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828800" cy="365760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28th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8F135"/>
                </a:solidFill>
                <a:latin typeface="Calibri"/>
              </a:rPr>
              <a:t>PoseCoach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AI 기반 운동 자세 코칭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Calibri"/>
              </a:rPr>
              <a:t>YOLO Pose  ·  DTW  ·  Gemini AI  ·  FastAPI  ·  React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8F135"/>
                </a:solidFill>
                <a:latin typeface="Calibri"/>
              </a:rPr>
              <a:t>왜 자세 코칭이 필요한가?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325880"/>
            <a:ext cx="3291840" cy="2377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200400" cy="228600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Calibri"/>
              </a:rPr>
              <a:t>❌ 자세 확인 불가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혼자 운동 시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자세 피드백 없음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→ 잘못된 습관 형성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7640" y="1325880"/>
            <a:ext cx="3291840" cy="2377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60" y="1371600"/>
            <a:ext cx="3200400" cy="228600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Calibri"/>
              </a:rPr>
              <a:t>❌ 부상 위험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01168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잘못된 자세 반복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→ 관절 과부하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→ 만성 부상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1325880"/>
            <a:ext cx="3291840" cy="2377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3200400" cy="228600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80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Calibri"/>
              </a:rPr>
              <a:t>❌ 동기 부족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201168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성장이 보이지 않아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운동 지속 어려움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→ 포기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11247120" cy="731520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→ PoseCoach: 영상 하나로 AI가 자세 분석 · 점수 · 피드백 제공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8F135"/>
                </a:solidFill>
                <a:latin typeface="Calibri"/>
              </a:rPr>
              <a:t>시스템 전체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88720"/>
            <a:ext cx="10972800" cy="749808"/>
          </a:xfrm>
          <a:prstGeom prst="rect">
            <a:avLst/>
          </a:prstGeom>
          <a:solidFill>
            <a:srgbClr val="1E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2926080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👤 사용자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280160"/>
            <a:ext cx="7680960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영상 업로드 / 결과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9385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139696"/>
            <a:ext cx="10972800" cy="749808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31136"/>
            <a:ext cx="2926080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FFF"/>
                </a:solidFill>
                <a:latin typeface="Calibri"/>
              </a:rPr>
              <a:t>🌐 Frontend (React + TypeScript)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231136"/>
            <a:ext cx="7680960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UploadVideo · Result · MyPage · 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889503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090672"/>
            <a:ext cx="10972800" cy="749808"/>
          </a:xfrm>
          <a:prstGeom prst="rect">
            <a:avLst/>
          </a:prstGeom>
          <a:solidFill>
            <a:srgbClr val="14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182112"/>
            <a:ext cx="2926080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Calibri"/>
              </a:rPr>
              <a:t>⚙️ Backend (FastAPI)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182112"/>
            <a:ext cx="7680960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분석 API · 인증 API · DB · Gemini 피드백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84048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041648"/>
            <a:ext cx="10972800" cy="749808"/>
          </a:xfrm>
          <a:prstGeom prst="rect">
            <a:avLst/>
          </a:prstGeom>
          <a:solidFill>
            <a:srgbClr val="32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133087"/>
            <a:ext cx="2926080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Calibri"/>
              </a:rPr>
              <a:t>🤖 AI 분석 엔진 (Python)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4133087"/>
            <a:ext cx="7680960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YOLO Pose → Phase 감지 → 횟수 카운팅 → 자세 평가 → DTW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79145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992624"/>
            <a:ext cx="10972800" cy="749808"/>
          </a:xfrm>
          <a:prstGeom prst="rect">
            <a:avLst/>
          </a:prstGeom>
          <a:solidFill>
            <a:srgbClr val="28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084064"/>
            <a:ext cx="2926080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🗄️ Database (SQLite)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5084064"/>
            <a:ext cx="7680960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유저 · 운동기록 · Phase점수 · 오류프레임 저장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8F135"/>
                </a:solidFill>
                <a:latin typeface="Calibri"/>
              </a:rPr>
              <a:t>기술 스택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188720"/>
            <a:ext cx="2560320" cy="411480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F135"/>
                </a:solidFill>
                <a:latin typeface="Calibri"/>
              </a:rPr>
              <a:t>AI /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23774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YOLO v8 Pose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fastdtw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Cohen's d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Gemini API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scikit-learn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OpenCV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188720"/>
            <a:ext cx="2560320" cy="411480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28016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FFF"/>
                </a:solidFill>
                <a:latin typeface="Calibri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645920"/>
            <a:ext cx="23774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Python 3.11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FastAPI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SQLite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bcrypt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pydantic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uvicorn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2560320" cy="411480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28016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Calibri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45920"/>
            <a:ext cx="23774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React 18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TypeScript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Vite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Tailwind CSS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React Router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shadcn/ui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1188720"/>
            <a:ext cx="2560320" cy="411480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28016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Calibri"/>
              </a:rPr>
              <a:t>Infra /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645920"/>
            <a:ext cx="23774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Git / GitHub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Streamlit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Plotly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python-pptx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reportlab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SQLite WAL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8F135"/>
                </a:solidFill>
                <a:latin typeface="Calibri"/>
              </a:rPr>
              <a:t>영상 처리 파이프라인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371600"/>
            <a:ext cx="3474720" cy="137160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3474720" cy="347472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0817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① 영상 업로드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73936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MP4/MOV/AVI/WEBM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최대 1920×1080 해상도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0"/>
            <a:ext cx="3474720" cy="137160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0"/>
            <a:ext cx="3474720" cy="347472"/>
          </a:xfrm>
          <a:prstGeom prst="rect">
            <a:avLst/>
          </a:prstGeom>
          <a:solidFill>
            <a:srgbClr val="5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40817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② 프레임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773936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설정 FPS(1~30)로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이미지 추출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(default: 10fps)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371600"/>
            <a:ext cx="3474720" cy="137160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371600"/>
            <a:ext cx="3474720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140817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③ 활성 구간 필터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1773936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ML + Rule-based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하이브리드 필터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운동 구간만 선택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17520"/>
            <a:ext cx="3474720" cy="137160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017520"/>
            <a:ext cx="347472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05409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④ YOLO 포즈 추정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419856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17 keypoints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+ 가상 3개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= 총 20개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3017520"/>
            <a:ext cx="3474720" cy="137160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3017520"/>
            <a:ext cx="3474720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305409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⑤ 키포인트 스무딩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419856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window=3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이동평균 필터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떨림 제거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3017520"/>
            <a:ext cx="3474720" cy="137160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79" y="3017520"/>
            <a:ext cx="3474720" cy="347472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9" y="305409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⑥ 정규화 좌표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3419856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[0,1] 범위 변환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카메라 해상도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무관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8F135"/>
                </a:solidFill>
                <a:latin typeface="Calibri"/>
              </a:rPr>
              <a:t>활성 구간 필터링 (운동 구간 감지)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5486400" cy="64008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문제: 전체 영상 분석 시 준비/휴식 구간 포함 → 낮은 점수, 왜곡된 분석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7451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F135"/>
                </a:solidFill>
                <a:latin typeface="Calibri"/>
              </a:rPr>
              <a:t>해결 방법 — 하이브리드 필터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286000"/>
            <a:ext cx="1737360" cy="201168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1737360" cy="347472"/>
          </a:xfrm>
          <a:prstGeom prst="rect">
            <a:avLst/>
          </a:prstGeom>
          <a:solidFill>
            <a:srgbClr val="5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32257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① ML 모델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88336"/>
            <a:ext cx="1645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(activity_filter.pkl)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RF 분류기로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활성 확률 예측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79" y="2286000"/>
            <a:ext cx="1737360" cy="201168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40279" y="2286000"/>
            <a:ext cx="1737360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5999" y="232257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② Rule-based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5999" y="2688336"/>
            <a:ext cx="1645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모션 감지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프레임 간 차이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임계값 필터링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2286000"/>
            <a:ext cx="1737360" cy="201168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2286000"/>
            <a:ext cx="1737360" cy="347472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232257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Calibri"/>
              </a:rPr>
              <a:t>③ 하이브리드 앙상블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688336"/>
            <a:ext cx="1645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ML OR (rule AND prob)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→ 최종 활성 구간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F135"/>
                </a:solidFill>
                <a:latin typeface="Calibri"/>
              </a:rPr>
              <a:t>필터링 효과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55448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전체 프레임: 100%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필터 후: ~35-60%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분석 속도: 2-3배 향상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점수 왜곡 제거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FFF"/>
                </a:solidFill>
                <a:latin typeface="Calibri"/>
              </a:rPr>
              <a:t>방법 비교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3832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ML 방법: O(N) 추론, 높은 정확도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Rule 방법: 빠른 fallback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Gap fill: 짧은 정지 구간 보완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8F135"/>
                </a:solidFill>
                <a:latin typeface="Calibri"/>
              </a:rPr>
              <a:t>Phase 감지 &amp; 운동 횟수 카운팅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231136" cy="50292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6624" y="1097280"/>
            <a:ext cx="2231136" cy="502920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6048" y="1097280"/>
            <a:ext cx="2231136" cy="502920"/>
          </a:xfrm>
          <a:prstGeom prst="rect">
            <a:avLst/>
          </a:prstGeom>
          <a:solidFill>
            <a:srgbClr val="5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descending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5472" y="1097280"/>
            <a:ext cx="2231136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bottom</a:t>
            </a:r>
          </a:p>
        </p:txBody>
      </p:sp>
      <p:sp>
        <p:nvSpPr>
          <p:cNvPr id="7" name="Rectangle 6"/>
          <p:cNvSpPr/>
          <p:nvPr/>
        </p:nvSpPr>
        <p:spPr>
          <a:xfrm>
            <a:off x="9454896" y="1097280"/>
            <a:ext cx="2231136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ascending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5303520" cy="384048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F135"/>
                </a:solidFill>
                <a:latin typeface="Calibri"/>
              </a:rPr>
              <a:t>Phase 감지 알고리즘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팔꿈치 각도 + 각속도 기반 감지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FPS 적응형 임계값 (fps 스케일링)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Hysteresis: 노이즈 방지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속도 스무딩: jitter 제거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푸시업 기준: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top: 팔꿈치 &gt; 150°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bottom: 팔꿈치 &lt; 110°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풀업 기준: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bottom: 팔꿈치 &gt; 140°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top: 팔꿈치 &lt; 50°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920240"/>
            <a:ext cx="5303520" cy="384048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011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FFF"/>
                </a:solidFill>
                <a:latin typeface="Calibri"/>
              </a:rPr>
              <a:t>횟수 카운팅 로직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37744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활성화 조건 감지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푸시업: 손목 &lt; 어깨 높이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풀업: 손목 &gt; 어깨 높이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Rep 완료 조건: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필요 Phase 순서 완주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→ count += 1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비활성 타임아웃: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FPS 기반 자동 리셋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(2초 이상 정지 감지)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8F135"/>
                </a:solidFill>
                <a:latin typeface="Calibri"/>
              </a:rPr>
              <a:t>자세 평가 시스템 (점수 로직)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0" y="228600"/>
            <a:ext cx="2103120" cy="365760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👤 담당 파트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3474720" cy="420624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F135"/>
                </a:solidFill>
                <a:latin typeface="Calibri"/>
              </a:rPr>
              <a:t>① Cohen's d 가중치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3291839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AI Hub 데이터 224개 분석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효과크기 기반 중요도 산출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어깨외전: 0.32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손 위치:  0.28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고개 숙임: 0.24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팔꿈치:   0.12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등 직선:  0.04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0520" y="1280160"/>
            <a:ext cx="3474720" cy="420624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1959" y="1371600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FFF"/>
                </a:solidFill>
                <a:latin typeface="Calibri"/>
              </a:rPr>
              <a:t>② Soft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59" y="1737360"/>
            <a:ext cx="3291839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이진(0/1) → 연속(0~1)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임계값 근방 선형 보간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미세한 자세 차이 반영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예: 팔꿈치 각도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159° → 0.95점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140° → 0.25점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100° → 0.00점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280160"/>
            <a:ext cx="3474720" cy="420624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371600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Calibri"/>
              </a:rPr>
              <a:t>③ DTW 유사도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737360"/>
            <a:ext cx="3291839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레퍼런스 영상과 비교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7개 각도 피처 사용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fastdtw O(N) 알고리즘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Combined Score =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avg × 0.7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+ dtw × 0.3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→ S/A/B/C 등급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8F135"/>
                </a:solidFill>
                <a:latin typeface="Calibri"/>
              </a:rPr>
              <a:t>백엔드 API (FastAPI)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F135"/>
                </a:solidFill>
                <a:latin typeface="Calibri"/>
              </a:rPr>
              <a:t>API 엔드포인트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54480"/>
            <a:ext cx="5303520" cy="411480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POST  /auth/register  →  회원가입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POST  /auth/login     →  JWT 로그인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POST  /analyze        →  영상 분석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GET   /history        →  운동 기록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POST  /report/pdf     →  PDF 리포트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POST  /ai-feedback    →  Gemini 피드백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8FFF"/>
                </a:solidFill>
                <a:latin typeface="Calibri"/>
              </a:rPr>
              <a:t>분석 API 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554480"/>
            <a:ext cx="5760720" cy="438912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영상 파일 수신 + 메타데이터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011680"/>
            <a:ext cx="5760720" cy="256032"/>
          </a:xfrm>
          <a:prstGeom prst="rect">
            <a:avLst/>
          </a:prstGeom>
          <a:solidFill>
            <a:srgbClr val="0F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286000"/>
            <a:ext cx="5760720" cy="438912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run_video_analysis() 실행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43200"/>
            <a:ext cx="5760720" cy="256032"/>
          </a:xfrm>
          <a:prstGeom prst="rect">
            <a:avLst/>
          </a:prstGeom>
          <a:solidFill>
            <a:srgbClr val="0F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3017520"/>
            <a:ext cx="5760720" cy="438912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frame_scores / error_frames 반환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474720"/>
            <a:ext cx="5760720" cy="256032"/>
          </a:xfrm>
          <a:prstGeom prst="rect">
            <a:avLst/>
          </a:prstGeom>
          <a:solidFill>
            <a:srgbClr val="0F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3749039"/>
            <a:ext cx="5760720" cy="438912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SQLite 저장 (선택)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4206240"/>
            <a:ext cx="5760720" cy="256032"/>
          </a:xfrm>
          <a:prstGeom prst="rect">
            <a:avLst/>
          </a:prstGeom>
          <a:solidFill>
            <a:srgbClr val="0F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4480559"/>
            <a:ext cx="5760720" cy="438912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JSON 응답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8F135"/>
                </a:solidFill>
                <a:latin typeface="Calibri"/>
              </a:rPr>
              <a:t>데이터베이스 설계 (SQLite)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188720"/>
            <a:ext cx="3474720" cy="384048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474720" cy="384048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25296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664208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id (PK)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username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password_hash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created_at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188720"/>
            <a:ext cx="4114800" cy="384048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188720"/>
            <a:ext cx="4114800" cy="384048"/>
          </a:xfrm>
          <a:prstGeom prst="rect">
            <a:avLst/>
          </a:prstGeom>
          <a:solidFill>
            <a:srgbClr val="5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22529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workouts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664208"/>
            <a:ext cx="3840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id (PK)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user_id (FK)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exercise_type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exercise_count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avg_score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combined_score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dtw_score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grade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duration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created_at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188720"/>
            <a:ext cx="3383280" cy="384048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03920" y="1188720"/>
            <a:ext cx="3383280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22529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workout_errors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1664208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id (PK)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workout_id (FK)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error_message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count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257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• WAL 모드로 동시 접근 지원  • bcrypt 해시 인증  • 유저별 통계 집계 (총 운동, 평균 점수, 선호 운동)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8F135"/>
                </a:solidFill>
                <a:latin typeface="Calibri"/>
              </a:rPr>
              <a:t>프론트엔드 UI (React + TypeScript)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280160"/>
            <a:ext cx="2103120" cy="347472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F135"/>
                </a:solidFill>
                <a:latin typeface="Calibri"/>
              </a:rPr>
              <a:t>🏠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1920239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히어로 섹션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기능 소개 카드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로그인/로그아웃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CTA 버튼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280160"/>
            <a:ext cx="2103120" cy="347472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FFF"/>
                </a:solidFill>
                <a:latin typeface="Calibri"/>
              </a:rPr>
              <a:t>🏋️ 운동 선택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737360"/>
            <a:ext cx="1920239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푸시업 / 풀업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그립 타입 선택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(오버핸드/언더핸드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/와이드)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280160"/>
            <a:ext cx="2103120" cy="347472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59" y="137160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Calibri"/>
              </a:rPr>
              <a:t>📤 영상 업로드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1737360"/>
            <a:ext cx="1920239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메인 영상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레퍼런스 영상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FPS 슬라이더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분석 로딩 화면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280160"/>
            <a:ext cx="2103120" cy="347472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59" y="137160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Calibri"/>
              </a:rPr>
              <a:t>📊 결과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1737360"/>
            <a:ext cx="1920239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등급 / 점수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프레임별 뷰어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Phase 차트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AI 피드백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1280160"/>
            <a:ext cx="2103120" cy="347472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137160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👤 마이페이지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1737360"/>
            <a:ext cx="1920239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운동 기록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성장 추이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통계 요약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029200"/>
            <a:ext cx="1783080" cy="41148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5B8FFF"/>
                </a:solidFill>
                <a:latin typeface="Calibri"/>
              </a:rPr>
              <a:t>React 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58568" y="5029200"/>
            <a:ext cx="1783080" cy="41148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5B8FFF"/>
                </a:solidFill>
                <a:latin typeface="Calibri"/>
              </a:rPr>
              <a:t>TypeScript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51375" y="5029200"/>
            <a:ext cx="1783080" cy="41148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4D399"/>
                </a:solidFill>
                <a:latin typeface="Calibri"/>
              </a:rPr>
              <a:t>Tailwind CSS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44183" y="5029200"/>
            <a:ext cx="1783080" cy="41148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A78BFA"/>
                </a:solidFill>
                <a:latin typeface="Calibri"/>
              </a:rPr>
              <a:t>shadcn/ui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36992" y="5029200"/>
            <a:ext cx="1783080" cy="41148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6B35"/>
                </a:solidFill>
                <a:latin typeface="Calibri"/>
              </a:rPr>
              <a:t>React Router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29800" y="5029200"/>
            <a:ext cx="1783080" cy="41148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C8F135"/>
                </a:solidFill>
                <a:latin typeface="Calibri"/>
              </a:rPr>
              <a:t>Vite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8F135"/>
                </a:solidFill>
                <a:latin typeface="Calibri"/>
              </a:rPr>
              <a:t>Gemini AI 종합 피드백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F135"/>
                </a:solidFill>
                <a:latin typeface="Calibri"/>
              </a:rPr>
              <a:t>피드백 생성 프로세스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54480"/>
            <a:ext cx="5120640" cy="41148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C8F135"/>
                </a:solidFill>
                <a:latin typeface="Calibri"/>
              </a:rPr>
              <a:t>분석 결과 수집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842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avg_score, phase별 점수, top 3 오류, DTW 점수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3774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651760"/>
            <a:ext cx="5120640" cy="41148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C8F135"/>
                </a:solidFill>
                <a:latin typeface="Calibri"/>
              </a:rPr>
              <a:t>구조화된 프롬프트 생성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815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운동 종목, 횟수, 오류 빈도, Phase 약점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4747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49039"/>
            <a:ext cx="5120640" cy="41148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C8F135"/>
                </a:solidFill>
                <a:latin typeface="Calibri"/>
              </a:rPr>
              <a:t>Gemini API 호출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78807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temperature=0.4, max_tokens=800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5720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846320"/>
            <a:ext cx="5120640" cy="41148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C8F135"/>
                </a:solidFill>
                <a:latin typeface="Calibri"/>
              </a:rPr>
              <a:t>마크다운 정리 후 표시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09728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8FFF"/>
                </a:solidFill>
                <a:latin typeface="Calibri"/>
              </a:rPr>
              <a:t>피드백 예시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1554480"/>
            <a:ext cx="6035040" cy="429768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169164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총평: 전반적으로 B등급 수준의 자세를 보여주셨습니다.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주요 개선 사항: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① 팔꿈치 벌림 — 어깨 부상 위험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② 고개 숙임 — 경추 압박 주의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잘 된 부분: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✓ 등 직선 유지 양호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✓ 손 위치 일정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권장 드릴: 벽 푸시업으로...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8F135"/>
                </a:solidFill>
                <a:latin typeface="Calibri"/>
              </a:rPr>
              <a:t>기술적 도전과 해결 과정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188720"/>
            <a:ext cx="64008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8328" y="1188720"/>
            <a:ext cx="4965192" cy="82296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카메라 위치에 따른 DTW 피처 왜곡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3716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8F135"/>
                </a:solidFill>
                <a:latin typeface="Calibr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188720"/>
            <a:ext cx="64008" cy="822960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73368" y="1188720"/>
            <a:ext cx="5330952" cy="82296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body_sway: 절대 x좌표 → 목 대비 상대 좌표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86000"/>
            <a:ext cx="64008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" y="2286000"/>
            <a:ext cx="4965192" cy="82296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이진 점수로 미세한 자세 차이 미반영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468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8F135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286000"/>
            <a:ext cx="64008" cy="822960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73368" y="2286000"/>
            <a:ext cx="5330952" cy="82296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423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Soft scoring 도입: 임계값 근방 선형 보간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383280"/>
            <a:ext cx="64008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8" y="3383280"/>
            <a:ext cx="4965192" cy="82296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5204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정지/준비 구간이 점수에 포함돼 왜곡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566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8F135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383280"/>
            <a:ext cx="64008" cy="822960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73368" y="3383280"/>
            <a:ext cx="5330952" cy="82296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5204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ML + Rule-based 하이브리드 활성 구간 필터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480560"/>
            <a:ext cx="64008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8328" y="4480560"/>
            <a:ext cx="4965192" cy="82296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6177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Phase 전환 시 노이즈(jitter) 발생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634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8F135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480560"/>
            <a:ext cx="64008" cy="822960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4480560"/>
            <a:ext cx="5330952" cy="82296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6177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Hysteresis + 속도 스무딩으로 안정적 감지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8F135"/>
                </a:solidFill>
                <a:latin typeface="Calibri"/>
              </a:rPr>
              <a:t>분석 결과 화면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280160"/>
            <a:ext cx="5303520" cy="210312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F135"/>
                </a:solidFill>
                <a:latin typeface="Calibri"/>
              </a:rPr>
              <a:t>📈 종합 점수 &amp; 등급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12064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Combined Score = avg × 0.7 + DTW × 0.3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S(≥90%) / A(≥70%) / B(≥50%) / C(&lt;50%)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280160"/>
            <a:ext cx="5303520" cy="210312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79" y="1371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FFF"/>
                </a:solidFill>
                <a:latin typeface="Calibri"/>
              </a:rPr>
              <a:t>🎞️ 프레임별 뷰어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79" y="1737360"/>
            <a:ext cx="512064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Phase 필터링으로 구간별 확인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오류 프레임 하이라이트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스켈레톤 오버레이 표시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566160"/>
            <a:ext cx="5303520" cy="210312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Calibri"/>
              </a:rPr>
              <a:t>📊 Phase 분석 차트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512064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Phase별 평균 점수 바차트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약점 Phase 시각적 확인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프레임 분포 히스토그램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566160"/>
            <a:ext cx="5303520" cy="210312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79" y="3657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🤖 AI 피드백 &amp;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4023360"/>
            <a:ext cx="512064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Gemini AI 종합 코멘트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PDF 리포트 다운로드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운동 기록 자동 저장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8F135"/>
                </a:solidFill>
                <a:latin typeface="Calibri"/>
              </a:rPr>
              <a:t>마무리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88720"/>
            <a:ext cx="5303520" cy="365760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F135"/>
                </a:solidFill>
                <a:latin typeface="Calibri"/>
              </a:rPr>
              <a:t>프로젝트에서 배운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YOLO 포즈 추정 파이프라인 전체 구현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DTW 알고리즘의 실전 적용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통계 기반 시스템 설계 (Cohen's d)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FastAPI + React 풀스택 개발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ML 모델과 규칙 기반의 하이브리드 설계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스포츠 과학 도메인 지식 습득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Git 협업 워크플로우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94960" cy="365760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280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FFF"/>
                </a:solidFill>
                <a:latin typeface="Calibri"/>
              </a:rPr>
              <a:t>향후 발전 방향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실시간 웹캠 분석 지원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스쿼트, 데드리프트 종목 확장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레퍼런스 영상 DB 구축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모바일 앱 지원 (React Native)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개인화 트레이닝 프로그램 추천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클라우드 배포 (AWS / GCP)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120640"/>
            <a:ext cx="11430000" cy="731520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PoseCoach — 데이터로 만드는 더 나은 운동  |  28기 프로젝트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